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費用</c:v>
                </c:pt>
              </c:strCache>
            </c:strRef>
          </c:tx>
          <c:dPt>
            <c:idx val="0"/>
            <c:spPr>
              <a:solidFill>
                <a:srgbClr val="0066FF"/>
              </a:solidFill>
            </c:spPr>
          </c:dPt>
          <c:dPt>
            <c:idx val="1"/>
            <c:spPr>
              <a:solidFill>
                <a:srgbClr val="3F9CFF"/>
              </a:solidFill>
            </c:spPr>
          </c:dPt>
          <c:dPt>
            <c:idx val="2"/>
            <c:spPr>
              <a:solidFill>
                <a:srgbClr val="253A58"/>
              </a:solidFill>
            </c:spPr>
          </c:dPt>
          <c:dPt>
            <c:idx val="3"/>
            <c:spPr>
              <a:solidFill>
                <a:srgbClr val="6FB3FF"/>
              </a:solidFill>
            </c:spPr>
          </c:dPt>
          <c:dPt>
            <c:idx val="4"/>
            <c:spPr>
              <a:solidFill>
                <a:srgbClr val="1E5BC6"/>
              </a:solidFill>
            </c:spPr>
          </c:dPt>
          <c:dPt>
            <c:idx val="5"/>
            <c:spPr>
              <a:solidFill>
                <a:srgbClr val="9CC9FF"/>
              </a:solidFill>
            </c:spPr>
          </c:dPt>
          <c:cat>
            <c:strRef>
              <c:f>Sheet1!$A$2:$A$7</c:f>
              <c:strCache>
                <c:ptCount val="6"/>
                <c:pt idx="0">
                  <c:v>要件定義</c:v>
                </c:pt>
                <c:pt idx="1">
                  <c:v>デザイン</c:v>
                </c:pt>
                <c:pt idx="2">
                  <c:v>設計</c:v>
                </c:pt>
                <c:pt idx="3">
                  <c:v>開発</c:v>
                </c:pt>
                <c:pt idx="4">
                  <c:v>テスト</c:v>
                </c:pt>
                <c:pt idx="5">
                  <c:v>リリース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2250000</c:v>
                </c:pt>
                <c:pt idx="1">
                  <c:v>2790000</c:v>
                </c:pt>
                <c:pt idx="2">
                  <c:v>2790000</c:v>
                </c:pt>
                <c:pt idx="3">
                  <c:v>4830000</c:v>
                </c:pt>
                <c:pt idx="4">
                  <c:v>2160000</c:v>
                </c:pt>
                <c:pt idx="5">
                  <c:v>450000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916375" cy="6858000"/>
          </a:xfrm>
          <a:prstGeom prst="rect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81160" y="-1280160"/>
            <a:ext cx="3840480" cy="384048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3566160"/>
            <a:ext cx="2743200" cy="2743200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85800"/>
            <a:ext cx="2011680" cy="8672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228600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株式会社○○ 御中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73152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7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○○アプリ / システム開発（案件名に書き換え）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45720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4572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御 提 案 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25780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機能を分解し、工数×単価を積み上げた根拠のあるお見積もりです。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6217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2026-07-05　／　bravesoft株式会社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本ご提案のポイント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勘や相場ではなく、機能を実装粒度まで分解して工数を積み上げています。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2615184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075688"/>
            <a:ext cx="146304" cy="146304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2020824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総工数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190</a:t>
            </a:r>
            <a:r>
              <a:rPr sz="13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人日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2152" y="1783080"/>
            <a:ext cx="2615184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58184" y="2075688"/>
            <a:ext cx="146304" cy="146304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2020824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想定期間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約10</a:t>
            </a:r>
            <a:r>
              <a:rPr sz="13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ヶ月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783080"/>
            <a:ext cx="2615184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601968" y="2075688"/>
            <a:ext cx="146304" cy="146304"/>
          </a:xfrm>
          <a:prstGeom prst="ellipse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20824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主要機能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1968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32</a:t>
            </a:r>
            <a:r>
              <a:rPr sz="13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項目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783080"/>
            <a:ext cx="2615184" cy="178308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445752" y="2075688"/>
            <a:ext cx="146304" cy="146304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83496" y="2020824"/>
            <a:ext cx="197510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ご提示額(税込)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441448"/>
            <a:ext cx="21031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1,680</a:t>
            </a:r>
            <a:r>
              <a:rPr sz="1300" b="1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万円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77639"/>
            <a:ext cx="11146536" cy="1737360"/>
          </a:xfrm>
          <a:prstGeom prst="roundRect">
            <a:avLst>
              <a:gd name="adj" fmla="val 7368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407" y="4270248"/>
            <a:ext cx="457200" cy="45720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7" y="427024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18488" y="425195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おすすめの進め方：まず要件定義フェーズから、リスクを抑えてスタート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4846320"/>
            <a:ext cx="9418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上流（要件定義）で仕様・スコープ・お見積もりを精緻化 → 本開発へ。前提が固まった状態で着手するため、手戻り・想定外を最小化します。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29" name="Picture 28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8015" y="438912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6600" b="1">
                <a:solidFill>
                  <a:srgbClr val="2E4669"/>
                </a:solidFill>
                <a:latin typeface="Noto Sans JP"/>
                <a:ea typeface="Noto Sans JP"/>
                <a:cs typeface="Noto Sans JP"/>
              </a:rPr>
              <a:t>bravesoft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安心の根拠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なぜ自信を持ってご提案できるか。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"/>
            <a:ext cx="1371600" cy="59130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このお見積もりが「安心」な3つの理由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机上の概算ではなく、再現性のある手順で作成しています。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611880" cy="338328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69848" y="2286000"/>
            <a:ext cx="777240" cy="777240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22860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32918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積み上げの根拠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388620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機能・作業を項目まで分解し、工数(人日)×単価で 1 円まで積み上げ。「なぜこの金額か」に必ず答えられます。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1828800"/>
            <a:ext cx="3611880" cy="338328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74336" y="2286000"/>
            <a:ext cx="777240" cy="777240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74336" y="22860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74336" y="32918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抜け漏れゼロ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4336" y="388620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PM・テスト・リリース・非機能要件まで、フェーズ×カテゴリで機械的に網羅。属人的な抜けを防ぎます。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828800"/>
            <a:ext cx="3611880" cy="3383280"/>
          </a:xfrm>
          <a:prstGeom prst="roundRect">
            <a:avLst>
              <a:gd name="adj" fmla="val 3783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878824" y="2286000"/>
            <a:ext cx="777240" cy="777240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2286000"/>
            <a:ext cx="7772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30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291840"/>
            <a:ext cx="2788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前提・スコープが明確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886200"/>
            <a:ext cx="2788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対応範囲・対象外・契約形態・納品物を明記。「ここから外れたら別途」を最初に握り、後の揉め事を防ぎます。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23" name="Picture 22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費用構成｜フェーズ別の内訳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金額がどのフェーズに配分されているか（税抜・ご提示ベース）。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691640"/>
          <a:ext cx="56692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720840" y="1783080"/>
            <a:ext cx="4800600" cy="1051560"/>
          </a:xfrm>
          <a:prstGeom prst="roundRect">
            <a:avLst>
              <a:gd name="adj" fmla="val 12173"/>
            </a:avLst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79" y="1938528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ご提示額（税抜）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9" y="2212848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¥15,270,000</a:t>
            </a:r>
          </a:p>
        </p:txBody>
      </p:sp>
      <p:sp>
        <p:nvSpPr>
          <p:cNvPr id="11" name="Oval 10"/>
          <p:cNvSpPr/>
          <p:nvPr/>
        </p:nvSpPr>
        <p:spPr>
          <a:xfrm>
            <a:off x="6766559" y="3118104"/>
            <a:ext cx="182880" cy="182880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30632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¥2,250,000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15%</a:t>
            </a:r>
          </a:p>
        </p:txBody>
      </p:sp>
      <p:sp>
        <p:nvSpPr>
          <p:cNvPr id="14" name="Oval 13"/>
          <p:cNvSpPr/>
          <p:nvPr/>
        </p:nvSpPr>
        <p:spPr>
          <a:xfrm>
            <a:off x="6766559" y="3593592"/>
            <a:ext cx="182880" cy="182880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5387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4040" y="3538728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¥2,790,000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18%</a:t>
            </a:r>
          </a:p>
        </p:txBody>
      </p:sp>
      <p:sp>
        <p:nvSpPr>
          <p:cNvPr id="17" name="Oval 16"/>
          <p:cNvSpPr/>
          <p:nvPr/>
        </p:nvSpPr>
        <p:spPr>
          <a:xfrm>
            <a:off x="6766559" y="4069080"/>
            <a:ext cx="182880" cy="182880"/>
          </a:xfrm>
          <a:prstGeom prst="ellipse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86600" y="401421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4014216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¥2,790,000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18%</a:t>
            </a:r>
          </a:p>
        </p:txBody>
      </p:sp>
      <p:sp>
        <p:nvSpPr>
          <p:cNvPr id="20" name="Oval 19"/>
          <p:cNvSpPr/>
          <p:nvPr/>
        </p:nvSpPr>
        <p:spPr>
          <a:xfrm>
            <a:off x="6766559" y="4544568"/>
            <a:ext cx="182880" cy="182880"/>
          </a:xfrm>
          <a:prstGeom prst="ellipse">
            <a:avLst/>
          </a:prstGeom>
          <a:solidFill>
            <a:srgbClr val="6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448970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48970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¥4,830,000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32%</a:t>
            </a:r>
          </a:p>
        </p:txBody>
      </p:sp>
      <p:sp>
        <p:nvSpPr>
          <p:cNvPr id="23" name="Oval 22"/>
          <p:cNvSpPr/>
          <p:nvPr/>
        </p:nvSpPr>
        <p:spPr>
          <a:xfrm>
            <a:off x="6766559" y="5020055"/>
            <a:ext cx="182880" cy="182880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86600" y="496519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64040" y="4965192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¥2,160,000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14%</a:t>
            </a:r>
          </a:p>
        </p:txBody>
      </p:sp>
      <p:sp>
        <p:nvSpPr>
          <p:cNvPr id="26" name="Oval 25"/>
          <p:cNvSpPr/>
          <p:nvPr/>
        </p:nvSpPr>
        <p:spPr>
          <a:xfrm>
            <a:off x="6766559" y="5495543"/>
            <a:ext cx="182880" cy="182880"/>
          </a:xfrm>
          <a:prstGeom prst="ellipse">
            <a:avLst/>
          </a:prstGeom>
          <a:solidFill>
            <a:srgbClr val="9C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544067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リリース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4040" y="5440679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¥450,000</a:t>
            </a: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  3%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30" name="Picture 29" descr="bravesof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8015" y="438912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6600" b="1">
                <a:solidFill>
                  <a:srgbClr val="2E4669"/>
                </a:solidFill>
                <a:latin typeface="Noto Sans JP"/>
                <a:ea typeface="Noto Sans JP"/>
                <a:cs typeface="Noto Sans JP"/>
              </a:rPr>
              <a:t>bravesoft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ご提案スコープ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今回のお見積もりに含む機能の全体像。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"/>
            <a:ext cx="1371600" cy="5913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ご提案スコープ｜主要機能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今回のお見積もりに含む機能。Must＝必須、Want＝ご予算に応じて選択可。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553212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783080"/>
            <a:ext cx="5532120" cy="713232"/>
          </a:xfrm>
          <a:prstGeom prst="roundRect">
            <a:avLst>
              <a:gd name="adj" fmla="val 17948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783080"/>
            <a:ext cx="48006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必須（Must）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60604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この構成で成立する最小スコープ</a:t>
            </a:r>
          </a:p>
        </p:txBody>
      </p:sp>
      <p:sp>
        <p:nvSpPr>
          <p:cNvPr id="11" name="Oval 10"/>
          <p:cNvSpPr/>
          <p:nvPr/>
        </p:nvSpPr>
        <p:spPr>
          <a:xfrm>
            <a:off x="1042415" y="3081527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017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プロジェクト計画書</a:t>
            </a:r>
          </a:p>
        </p:txBody>
      </p:sp>
      <p:sp>
        <p:nvSpPr>
          <p:cNvPr id="13" name="Oval 12"/>
          <p:cNvSpPr/>
          <p:nvPr/>
        </p:nvSpPr>
        <p:spPr>
          <a:xfrm>
            <a:off x="1042415" y="3428999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364991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キックオフ・要件確定ヒアリング</a:t>
            </a:r>
          </a:p>
        </p:txBody>
      </p:sp>
      <p:sp>
        <p:nvSpPr>
          <p:cNvPr id="15" name="Oval 14"/>
          <p:cNvSpPr/>
          <p:nvPr/>
        </p:nvSpPr>
        <p:spPr>
          <a:xfrm>
            <a:off x="1042415" y="3776472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6736" y="3712463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業務フロー・As-Is/To-Be 整理</a:t>
            </a:r>
          </a:p>
        </p:txBody>
      </p:sp>
      <p:sp>
        <p:nvSpPr>
          <p:cNvPr id="17" name="Oval 16"/>
          <p:cNvSpPr/>
          <p:nvPr/>
        </p:nvSpPr>
        <p:spPr>
          <a:xfrm>
            <a:off x="1042415" y="4123944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16736" y="4059935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機能一覧・スコープ定義</a:t>
            </a:r>
          </a:p>
        </p:txBody>
      </p:sp>
      <p:sp>
        <p:nvSpPr>
          <p:cNvPr id="19" name="Oval 18"/>
          <p:cNvSpPr/>
          <p:nvPr/>
        </p:nvSpPr>
        <p:spPr>
          <a:xfrm>
            <a:off x="1042415" y="4471416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16736" y="4407407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要件定義書（機能/非機能）</a:t>
            </a:r>
          </a:p>
        </p:txBody>
      </p:sp>
      <p:sp>
        <p:nvSpPr>
          <p:cNvPr id="21" name="Oval 20"/>
          <p:cNvSpPr/>
          <p:nvPr/>
        </p:nvSpPr>
        <p:spPr>
          <a:xfrm>
            <a:off x="1042415" y="4818888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475487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ワイヤーフレーム</a:t>
            </a:r>
          </a:p>
        </p:txBody>
      </p:sp>
      <p:sp>
        <p:nvSpPr>
          <p:cNvPr id="23" name="Oval 22"/>
          <p:cNvSpPr/>
          <p:nvPr/>
        </p:nvSpPr>
        <p:spPr>
          <a:xfrm>
            <a:off x="1042415" y="5166359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5102351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UIデザイン（主要画面）</a:t>
            </a:r>
          </a:p>
        </p:txBody>
      </p:sp>
      <p:sp>
        <p:nvSpPr>
          <p:cNvPr id="25" name="Oval 24"/>
          <p:cNvSpPr/>
          <p:nvPr/>
        </p:nvSpPr>
        <p:spPr>
          <a:xfrm>
            <a:off x="1042415" y="5513831"/>
            <a:ext cx="128016" cy="12801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6736" y="5449823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デザインガイドライン・共通パーツ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5815583"/>
            <a:ext cx="45262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ほか 18 項目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0527" y="1783080"/>
            <a:ext cx="553212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0527" y="1783080"/>
            <a:ext cx="5532120" cy="713232"/>
          </a:xfrm>
          <a:prstGeom prst="roundRect">
            <a:avLst>
              <a:gd name="adj" fmla="val 17948"/>
            </a:avLst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1783080"/>
            <a:ext cx="48006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ご希望に応じて（Want）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2606040"/>
            <a:ext cx="4800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予算・優先度に合わせて調整できる範囲</a:t>
            </a:r>
          </a:p>
        </p:txBody>
      </p:sp>
      <p:sp>
        <p:nvSpPr>
          <p:cNvPr id="32" name="Oval 31"/>
          <p:cNvSpPr/>
          <p:nvPr/>
        </p:nvSpPr>
        <p:spPr>
          <a:xfrm>
            <a:off x="6894575" y="3081527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68895" y="301752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アプリアイコン・ストア掲載素材</a:t>
            </a:r>
          </a:p>
        </p:txBody>
      </p:sp>
      <p:sp>
        <p:nvSpPr>
          <p:cNvPr id="34" name="Oval 33"/>
          <p:cNvSpPr/>
          <p:nvPr/>
        </p:nvSpPr>
        <p:spPr>
          <a:xfrm>
            <a:off x="6894575" y="3428999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5" y="3364991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管理画面（CMS）基本機能</a:t>
            </a:r>
          </a:p>
        </p:txBody>
      </p:sp>
      <p:sp>
        <p:nvSpPr>
          <p:cNvPr id="36" name="Oval 35"/>
          <p:cNvSpPr/>
          <p:nvPr/>
        </p:nvSpPr>
        <p:spPr>
          <a:xfrm>
            <a:off x="6894575" y="3776472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68895" y="3712463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プッシュ通知</a:t>
            </a:r>
          </a:p>
        </p:txBody>
      </p:sp>
      <p:sp>
        <p:nvSpPr>
          <p:cNvPr id="38" name="Oval 37"/>
          <p:cNvSpPr/>
          <p:nvPr/>
        </p:nvSpPr>
        <p:spPr>
          <a:xfrm>
            <a:off x="6894575" y="4123944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8895" y="4059935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バッチ・定期処理</a:t>
            </a:r>
          </a:p>
        </p:txBody>
      </p:sp>
      <p:sp>
        <p:nvSpPr>
          <p:cNvPr id="40" name="Oval 39"/>
          <p:cNvSpPr/>
          <p:nvPr/>
        </p:nvSpPr>
        <p:spPr>
          <a:xfrm>
            <a:off x="6894575" y="4471416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68895" y="4407407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脆弱性診断対応</a:t>
            </a:r>
          </a:p>
        </p:txBody>
      </p:sp>
      <p:sp>
        <p:nvSpPr>
          <p:cNvPr id="42" name="Oval 41"/>
          <p:cNvSpPr/>
          <p:nvPr/>
        </p:nvSpPr>
        <p:spPr>
          <a:xfrm>
            <a:off x="6894575" y="4818888"/>
            <a:ext cx="128016" cy="128016"/>
          </a:xfrm>
          <a:prstGeom prst="ellipse">
            <a:avLst/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68895" y="4754879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リリース後初期サポート（2 週間）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45" name="Picture 44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8015" y="438912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6600" b="1">
                <a:solidFill>
                  <a:srgbClr val="2E4669"/>
                </a:solidFill>
                <a:latin typeface="Noto Sans JP"/>
                <a:ea typeface="Noto Sans JP"/>
                <a:cs typeface="Noto Sans JP"/>
              </a:rPr>
              <a:t>bravesoft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お見積もり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進め方と費用。金額はすべて税抜表記です。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"/>
            <a:ext cx="1371600" cy="591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進め方｜フェーズの流れ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要件定義から順に進め、各フェーズで成果物を確定していきます。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01902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1902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25人日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9213" y="288036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3F9C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3533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7067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7067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0693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0693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31人日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4378" y="288036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3F9C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8698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12233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2233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5858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5858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31人日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9543" y="288036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3F9C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863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7398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7398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1023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1023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69人日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04708" y="288036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3F9C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9028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22563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2563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6188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6188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28人日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59874" y="2880360"/>
            <a:ext cx="29260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600" b="1">
                <a:solidFill>
                  <a:srgbClr val="3F9CFF"/>
                </a:solidFill>
                <a:latin typeface="Noto Sans JP"/>
                <a:ea typeface="Noto Sans JP"/>
                <a:cs typeface="Noto Sans JP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934194" y="2194560"/>
            <a:ext cx="1599133" cy="2103120"/>
          </a:xfrm>
          <a:prstGeom prst="roundRect">
            <a:avLst>
              <a:gd name="adj" fmla="val 686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77728" y="2468879"/>
            <a:ext cx="512064" cy="512064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77728" y="2468879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0066FF"/>
                </a:solidFill>
                <a:latin typeface="Roboto Mono"/>
                <a:ea typeface="Roboto Mono"/>
                <a:cs typeface="Roboto Mono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71354" y="3154680"/>
            <a:ext cx="132481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リリース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1354" y="3675887"/>
            <a:ext cx="132481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6人日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6344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※ まず要件定義フェーズで仕様・スコープを固め、リスクを抑えて本開発に着手することをおすすめします。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44" name="Picture 43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お見積もり内訳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フェーズ別の工数と金額（税抜）。PM・管理費は各フェーズ小計に含みます。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7680960" cy="420624"/>
          </a:xfrm>
          <a:prstGeom prst="rect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83080"/>
            <a:ext cx="35661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フェーズ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10328" y="1783080"/>
            <a:ext cx="1188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工数(人日)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1783080"/>
            <a:ext cx="15544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金額(税抜)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03704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03704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203704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¥2,250,000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624328"/>
            <a:ext cx="7680960" cy="42062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624328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62432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31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624328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¥2,790,000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044952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044952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3044952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¥2,790,000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65576"/>
            <a:ext cx="7680960" cy="42062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3465576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465576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69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465576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¥4,830,000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" y="3886200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1728" y="3886200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28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3886200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¥2,160,000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306824"/>
            <a:ext cx="7680960" cy="420624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4306824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リリース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4306824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306824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250" b="0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¥450,000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727448"/>
            <a:ext cx="7680960" cy="420624"/>
          </a:xfrm>
          <a:prstGeom prst="rect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" y="4727448"/>
            <a:ext cx="3657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合計（税抜）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472744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190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7648" y="4727448"/>
            <a:ext cx="1783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2000"/>
              </a:lnSpc>
            </a:pPr>
            <a:r>
              <a:rPr sz="1300" b="1">
                <a:solidFill>
                  <a:srgbClr val="253A58"/>
                </a:solidFill>
                <a:latin typeface="Roboto Mono"/>
                <a:ea typeface="Roboto Mono"/>
                <a:cs typeface="Roboto Mono"/>
              </a:rPr>
              <a:t>¥15,270,000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86800" y="1783080"/>
            <a:ext cx="3017520" cy="2715768"/>
          </a:xfrm>
          <a:prstGeom prst="roundRect">
            <a:avLst>
              <a:gd name="adj" fmla="val 5387"/>
            </a:avLst>
          </a:prstGeom>
          <a:solidFill>
            <a:srgbClr val="253A58"/>
          </a:solidFill>
          <a:ln>
            <a:noFill/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06840" y="2130552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小計（税抜）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2404872"/>
            <a:ext cx="246887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¥15,270,000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2788920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消費税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063239"/>
            <a:ext cx="2468879" cy="3657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Roboto Mono"/>
                <a:ea typeface="Roboto Mono"/>
                <a:cs typeface="Roboto Mono"/>
              </a:rPr>
              <a:t>¥1,527,000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447288"/>
            <a:ext cx="23774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ご提示額（税込）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3721608"/>
            <a:ext cx="2468879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¥16,797,000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594360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※ 金額は税抜表記（合計欄を除く）。本前提から外れる場合は別途お見積もりとなります。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45" name="Picture 44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工数の内訳｜どこに費用がかかるか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フェーズ別の工数(人日)。金額の大半は開発フェーズが占めるのが一般的です。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2064715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52928" y="2064715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43615" y="196596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69人日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34056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52928" y="2832811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2832811"/>
            <a:ext cx="3450866" cy="460857"/>
          </a:xfrm>
          <a:prstGeom prst="roundRect">
            <a:avLst>
              <a:gd name="adj" fmla="val 11904"/>
            </a:avLst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3522" y="2734056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31人日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02152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2928" y="3600907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52928" y="3600907"/>
            <a:ext cx="3450866" cy="460857"/>
          </a:xfrm>
          <a:prstGeom prst="roundRect">
            <a:avLst>
              <a:gd name="adj" fmla="val 11904"/>
            </a:avLst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3522" y="3502152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31人日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70248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52928" y="4369003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52928" y="4369003"/>
            <a:ext cx="3116911" cy="460857"/>
          </a:xfrm>
          <a:prstGeom prst="roundRect">
            <a:avLst>
              <a:gd name="adj" fmla="val 11904"/>
            </a:avLst>
          </a:prstGeom>
          <a:solidFill>
            <a:srgbClr val="6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9567" y="4270248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28人日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038344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2928" y="5137099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52928" y="5137099"/>
            <a:ext cx="2782956" cy="460857"/>
          </a:xfrm>
          <a:prstGeom prst="roundRect">
            <a:avLst>
              <a:gd name="adj" fmla="val 11904"/>
            </a:avLst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45612" y="5038344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25人日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21031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リリース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852928" y="5905195"/>
            <a:ext cx="7680960" cy="460857"/>
          </a:xfrm>
          <a:prstGeom prst="roundRect">
            <a:avLst>
              <a:gd name="adj" fmla="val 11904"/>
            </a:avLst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52928" y="5905195"/>
            <a:ext cx="667909" cy="460857"/>
          </a:xfrm>
          <a:prstGeom prst="roundRect">
            <a:avLst>
              <a:gd name="adj" fmla="val 11904"/>
            </a:avLst>
          </a:prstGeom>
          <a:solidFill>
            <a:srgbClr val="9C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0565" y="5806440"/>
            <a:ext cx="1463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090A0A"/>
                </a:solidFill>
                <a:latin typeface="Roboto Mono"/>
                <a:ea typeface="Roboto Mono"/>
                <a:cs typeface="Roboto Mono"/>
              </a:rPr>
              <a:t>6人日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32" name="Picture 31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08015" y="4389120"/>
            <a:ext cx="64008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6600" b="1">
                <a:solidFill>
                  <a:srgbClr val="2E4669"/>
                </a:solidFill>
                <a:latin typeface="Noto Sans JP"/>
                <a:ea typeface="Noto Sans JP"/>
                <a:cs typeface="Noto Sans JP"/>
              </a:rPr>
              <a:t>bravesoft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400" b="1">
                <a:solidFill>
                  <a:srgbClr val="3F9CFF"/>
                </a:solidFill>
                <a:latin typeface="Roboto Mono"/>
                <a:ea typeface="Roboto Mono"/>
                <a:cs typeface="Roboto Mon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8892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概算スケジュール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8862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>
                <a:solidFill>
                  <a:srgbClr val="C7D6EC"/>
                </a:solidFill>
                <a:latin typeface="Noto Sans JP"/>
                <a:ea typeface="Noto Sans JP"/>
                <a:cs typeface="Noto Sans JP"/>
              </a:rPr>
              <a:t>フェーズ別の標準スケジュール。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48640"/>
            <a:ext cx="1371600" cy="59130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概算スケジュール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フェーズを順に進めた場合の目安（並走・前倒しで短縮可能）。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1ヶ月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0073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2ヶ月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0073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2627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3ヶ月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42627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05180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4ヶ月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5180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7734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5ヶ月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67734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0287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6ヶ月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30287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2841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7ヶ月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92841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5394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8ヶ月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5394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7948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9ヶ月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17948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0501" y="1490472"/>
            <a:ext cx="862553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10ヶ月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0501" y="1874519"/>
            <a:ext cx="7315" cy="3584448"/>
          </a:xfrm>
          <a:prstGeom prst="rect">
            <a:avLst/>
          </a:prstGeom>
          <a:solidFill>
            <a:srgbClr val="E3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1874519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要件定義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1" y="1965228"/>
            <a:ext cx="1023327" cy="351495"/>
          </a:xfrm>
          <a:prstGeom prst="roundRect">
            <a:avLst>
              <a:gd name="adj" fmla="val 20811"/>
            </a:avLst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2441448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デザイン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23143" y="2532156"/>
            <a:ext cx="1282093" cy="351495"/>
          </a:xfrm>
          <a:prstGeom prst="roundRect">
            <a:avLst>
              <a:gd name="adj" fmla="val 20811"/>
            </a:avLst>
          </a:prstGeom>
          <a:solidFill>
            <a:srgbClr val="3F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008376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設計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60101" y="3099084"/>
            <a:ext cx="1282093" cy="351495"/>
          </a:xfrm>
          <a:prstGeom prst="roundRect">
            <a:avLst>
              <a:gd name="adj" fmla="val 20811"/>
            </a:avLst>
          </a:prstGeom>
          <a:solidFill>
            <a:srgbClr val="253A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" y="3575303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開発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97059" y="3666012"/>
            <a:ext cx="2920945" cy="351495"/>
          </a:xfrm>
          <a:prstGeom prst="roundRect">
            <a:avLst>
              <a:gd name="adj" fmla="val 20811"/>
            </a:avLst>
          </a:prstGeom>
          <a:solidFill>
            <a:srgbClr val="6FB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142231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テスト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72869" y="4232940"/>
            <a:ext cx="1152710" cy="351495"/>
          </a:xfrm>
          <a:prstGeom prst="roundRect">
            <a:avLst>
              <a:gd name="adj" fmla="val 20811"/>
            </a:avLst>
          </a:prstGeom>
          <a:solidFill>
            <a:srgbClr val="1E5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709160"/>
            <a:ext cx="21945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リリース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80444" y="4799868"/>
            <a:ext cx="376412" cy="351495"/>
          </a:xfrm>
          <a:prstGeom prst="roundRect">
            <a:avLst>
              <a:gd name="adj" fmla="val 20811"/>
            </a:avLst>
          </a:prstGeom>
          <a:solidFill>
            <a:srgbClr val="9CC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41324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総期間の目安：約10ヶ月（アプリ複数名体制・直列ケース。並走で短縮可能）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41" name="Picture 40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" y="566928"/>
            <a:ext cx="384048" cy="384048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4572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1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まとめ｜このお見積もりが「安心」な理由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1024128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根拠の透明性・過剰のない適正工数・段階的なリスク低減。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0976" y="2075688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0756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03911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根拠の透明性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41448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全項目を工数×単価で 1 円まで積み上げ。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2856" y="1783080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5464" y="2075688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20756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4104" y="203911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適正な工数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4104" y="2441448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相場や勘ではなく、機能の実装粒度から算出。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67344" y="1783080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759952" y="2075688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59952" y="207568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039112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抜け漏れの回避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2441448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PM・テスト・リリース・非機能まで網羅。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456432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50976" y="3749040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3749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9616" y="37124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前提の明確化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9616" y="41148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対応範囲・対象外・契約形態を明記。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2856" y="3456432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55464" y="3749040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55464" y="3749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37124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採算の健全性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4104" y="41148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バッファ・管理費を見える化し、無理のない体制。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67344" y="3456432"/>
            <a:ext cx="3611880" cy="1417320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2700">
            <a:solidFill>
              <a:srgbClr val="E3E5E5"/>
            </a:solidFill>
          </a:ln>
          <a:effectLst>
            <a:outerShdw blurRad="90000" dist="38100" dir="5400000" rotWithShape="0">
              <a:srgbClr val="253A58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759952" y="3749040"/>
            <a:ext cx="384048" cy="384048"/>
          </a:xfrm>
          <a:prstGeom prst="ellipse">
            <a:avLst/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59952" y="37490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>
                <a:solidFill>
                  <a:srgbClr val="0066FF"/>
                </a:solidFill>
                <a:latin typeface="Noto Sans JP"/>
                <a:ea typeface="Noto Sans JP"/>
                <a:cs typeface="Noto Sans JP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08592" y="371246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段階的リリース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4114800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フェーズ分割でリスクを抑えて着実に。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48072"/>
            <a:ext cx="11420856" cy="822960"/>
          </a:xfrm>
          <a:prstGeom prst="roundRect">
            <a:avLst>
              <a:gd name="adj" fmla="val 13333"/>
            </a:avLst>
          </a:prstGeom>
          <a:solidFill>
            <a:srgbClr val="E5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50976" y="5404104"/>
            <a:ext cx="310896" cy="310896"/>
          </a:xfrm>
          <a:prstGeom prst="ellipse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976" y="540410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★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5148072"/>
            <a:ext cx="10415016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253A58"/>
                </a:solidFill>
                <a:latin typeface="Noto Sans JP"/>
                <a:ea typeface="Noto Sans JP"/>
                <a:cs typeface="Noto Sans JP"/>
              </a:rPr>
              <a:t>次のステップ：</a:t>
            </a:r>
            <a:r>
              <a:rPr sz="1200" b="0">
                <a:solidFill>
                  <a:srgbClr val="090A0A"/>
                </a:solidFill>
                <a:latin typeface="Noto Sans JP"/>
                <a:ea typeface="Noto Sans JP"/>
                <a:cs typeface="Noto Sans JP"/>
              </a:rPr>
              <a:t>まず要件定義フェーズからのスタートをおすすめします。仕様・スコープ・スケジュールを精緻化し、確実に前に進めます。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0">
                <a:solidFill>
                  <a:srgbClr val="6C7072"/>
                </a:solidFill>
                <a:latin typeface="Noto Sans JP"/>
                <a:ea typeface="Noto Sans JP"/>
                <a:cs typeface="Noto Sans JP"/>
              </a:rPr>
              <a:t>© bravesoft Inc.</a:t>
            </a:r>
          </a:p>
        </p:txBody>
      </p:sp>
      <p:pic>
        <p:nvPicPr>
          <p:cNvPr id="42" name="Picture 41" descr="bravesof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7255" y="6400800"/>
            <a:ext cx="685800" cy="2956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06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90895" y="4480560"/>
            <a:ext cx="62179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6000" b="1">
                <a:solidFill>
                  <a:srgbClr val="3F86E6"/>
                </a:solidFill>
                <a:latin typeface="Noto Sans JP"/>
                <a:ea typeface="Noto Sans JP"/>
                <a:cs typeface="Noto Sans JP"/>
              </a:rPr>
              <a:t>bravesoft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687" y="1965960"/>
            <a:ext cx="2560320" cy="11037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88620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ご清覧いただき、ありがとうございました。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D7E6FF"/>
                </a:solidFill>
                <a:latin typeface="Noto Sans JP"/>
                <a:ea typeface="Noto Sans JP"/>
                <a:cs typeface="Noto Sans JP"/>
              </a:rPr>
              <a:t>株式会社○○ 御中　｜　○○アプリ / システム開発（案件名に書き換え） 御提案書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0">
                <a:solidFill>
                  <a:srgbClr val="BFD6FF"/>
                </a:solidFill>
                <a:latin typeface="Noto Sans JP"/>
                <a:ea typeface="Noto Sans JP"/>
                <a:cs typeface="Noto Sans JP"/>
              </a:rPr>
              <a:t>bravesoft株式会社　2026-07-05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